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vengoyal885/Access-Hi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ode-x-path.vercel.app/" TargetMode="External"/><Relationship Id="rId2" Type="http://schemas.openxmlformats.org/officeDocument/2006/relationships/hyperlink" Target="https://opportunity-radar-ai.netlify.app/dashboard" TargetMode="External"/><Relationship Id="rId3" Type="http://schemas.openxmlformats.org/officeDocument/2006/relationships/hyperlink" Target="https://github.com/Devengoyal885/Access-Hire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urleen12star" TargetMode="External"/><Relationship Id="rId2" Type="http://schemas.openxmlformats.org/officeDocument/2006/relationships/hyperlink" Target="https://github.com/RidhiiBansal" TargetMode="External"/><Relationship Id="rId3" Type="http://schemas.openxmlformats.org/officeDocument/2006/relationships/hyperlink" Target="https://github.com/banikaur22" TargetMode="External"/><Relationship Id="rId4" Type="http://schemas.openxmlformats.org/officeDocument/2006/relationships/hyperlink" Target="https://github.com/Devengoyal885" TargetMode="External"/><Relationship Id="rId5" Type="http://schemas.openxmlformats.org/officeDocument/2006/relationships/hyperlink" Target="https://github.com/aryanrao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vengoyal885/Access-Hi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HACKFEST  ·  THEME 2: INCLUSIVE WORKFORCE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Access-Hire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 Capability Twin for an Inclusive Workforce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2926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rewriting who gets to work. We make sure it rewrites the rules fairly.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989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STARCODERS</a:t>
            </a:r>
            <a:endParaRPr lang="en-US" sz="1300" dirty="0"/>
          </a:p>
        </p:txBody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68580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github.com/Devengoyal885/Access-Hire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will AI leave behind?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931920" cy="4480560"/>
          </a:xfrm>
          <a:prstGeom prst="roundRect">
            <a:avLst>
              <a:gd name="adj" fmla="val 2791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$5.5T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skills gap created as AI reshapes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category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3383280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challenge is no longer will AI take jobs — it's who AI will leave behind.”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55448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7830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Employees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may already have the skills for a new role — but gets rejected because their job title, resume keywords, or degree don't match. Real capability stays invisible.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66760" y="1554480"/>
            <a:ext cx="3246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0" y="178308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35440" y="178308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Companies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2423160"/>
            <a:ext cx="2788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only ask “what job does this person hold?” instead of “what can they do, what's missing, and what could they become?” — so they hire externally instead of reskilling.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840480"/>
            <a:ext cx="68122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023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still filter on: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0" y="4434840"/>
            <a:ext cx="866851" cy="29260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4434840"/>
            <a:ext cx="86685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3211" y="4434840"/>
            <a:ext cx="1261872" cy="29260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4" name="Text 22"/>
          <p:cNvSpPr/>
          <p:nvPr/>
        </p:nvSpPr>
        <p:spPr>
          <a:xfrm>
            <a:off x="6033211" y="4434840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Keywords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32243" y="4434840"/>
            <a:ext cx="669341" cy="29260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6" name="Text 24"/>
          <p:cNvSpPr/>
          <p:nvPr/>
        </p:nvSpPr>
        <p:spPr>
          <a:xfrm>
            <a:off x="7432243" y="4434840"/>
            <a:ext cx="66934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38744" y="4434840"/>
            <a:ext cx="1196035" cy="29260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8" name="Text 26"/>
          <p:cNvSpPr/>
          <p:nvPr/>
        </p:nvSpPr>
        <p:spPr>
          <a:xfrm>
            <a:off x="8238744" y="4434840"/>
            <a:ext cx="11960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71939" y="4434840"/>
            <a:ext cx="1130198" cy="292608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30" name="Text 28"/>
          <p:cNvSpPr/>
          <p:nvPr/>
        </p:nvSpPr>
        <p:spPr>
          <a:xfrm>
            <a:off x="9571939" y="4434840"/>
            <a:ext cx="113019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Exp.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0" y="4983480"/>
            <a:ext cx="6126480" cy="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512064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Access-Hire asks a better question: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029200" y="546811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can this person actually do — and what could they become?”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SERVE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users. One shared question: what's actually possible?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45920" y="1783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Aanya — IT Support Engineer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45920" y="21214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yrs experience · Employee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260604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60604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already use Python, SQL and automation daily — but recruiters only see my job title.”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00507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904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my true capability profile, not just my resume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57200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4714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roles I'm already close to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513892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50383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shortest path to close real gaps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5705856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605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new skills with real evidence, not a certificate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783080"/>
            <a:ext cx="621792" cy="62179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78308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60920" y="1783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Meera — Workforce Planning Lead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360920" y="212140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HR · Company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2606040"/>
            <a:ext cx="4709160" cy="868680"/>
          </a:xfrm>
          <a:prstGeom prst="roundRect">
            <a:avLst>
              <a:gd name="adj" fmla="val 8421"/>
            </a:avLst>
          </a:prstGeom>
          <a:solidFill>
            <a:srgbClr val="F4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2606040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“We're about to hire 1,200 AI roles externally — without knowing who we already have.”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83680" y="365760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NEEDS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4005072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9044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capability, not headcount, across the org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572000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47141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which skills the market will demand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513892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03834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employees who can reskill into gaps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5705856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605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guesswork with an auditable, fair process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person gets a living Capability Twin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static label. A continuously updated, evidence-backed picture of what someone can actually 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874520"/>
          </a:xfrm>
          <a:prstGeom prst="roundRect">
            <a:avLst>
              <a:gd name="adj" fmla="val 4878"/>
            </a:avLst>
          </a:prstGeom>
          <a:solidFill>
            <a:srgbClr val="EDEFF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RECORD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96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= Expert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label. No context, no proof, no shelf life.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3566160" cy="1965960"/>
          </a:xfrm>
          <a:prstGeom prst="roundRect">
            <a:avLst>
              <a:gd name="adj" fmla="val 4651"/>
            </a:avLst>
          </a:prstGeom>
          <a:solidFill>
            <a:srgbClr val="0B2E4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TWIN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Proficiency, confidence, recency,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evidence — together.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5486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projects, GitHub, assessments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 work history.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1783080"/>
            <a:ext cx="71780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965960"/>
            <a:ext cx="6537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Capability Breakdown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Proficiency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807208"/>
            <a:ext cx="2743200" cy="128016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2807208"/>
            <a:ext cx="2386584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754880" y="3081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74136"/>
            <a:ext cx="2743200" cy="128016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54880" y="3374136"/>
            <a:ext cx="2578608" cy="12801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capability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54880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54880" y="3941064"/>
            <a:ext cx="2743200" cy="128016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27" name="Shape 25"/>
          <p:cNvSpPr/>
          <p:nvPr/>
        </p:nvSpPr>
        <p:spPr>
          <a:xfrm>
            <a:off x="4754880" y="3941064"/>
            <a:ext cx="2221992" cy="128016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capability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754880" y="4215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54880" y="4507992"/>
            <a:ext cx="2743200" cy="128016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4507992"/>
            <a:ext cx="2578608" cy="12801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2" name="Shape 30"/>
          <p:cNvSpPr/>
          <p:nvPr/>
        </p:nvSpPr>
        <p:spPr>
          <a:xfrm>
            <a:off x="7818120" y="2514600"/>
            <a:ext cx="0" cy="2240280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38160" y="2514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38160" y="28163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5" name="Text 33"/>
          <p:cNvSpPr/>
          <p:nvPr/>
        </p:nvSpPr>
        <p:spPr>
          <a:xfrm>
            <a:off x="8138160" y="281635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138160" y="359359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4EDF3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359359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372600" y="359359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4EDF3"/>
          </a:solidFill>
          <a:ln/>
        </p:spPr>
      </p:sp>
      <p:sp>
        <p:nvSpPr>
          <p:cNvPr id="40" name="Text 38"/>
          <p:cNvSpPr/>
          <p:nvPr/>
        </p:nvSpPr>
        <p:spPr>
          <a:xfrm>
            <a:off x="9372600" y="359359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13816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sources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138160" y="44074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836676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138160" y="4709160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138160" y="5010912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4919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138160" y="53126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5221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history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just recommend learning — we verify capability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4603" y="2834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04603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00715" y="3268980"/>
            <a:ext cx="657062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85209" y="2834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485209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29246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Score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81321" y="3268980"/>
            <a:ext cx="657062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065814" y="2834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065814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09851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61926" y="3268980"/>
            <a:ext cx="657062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646420" y="2834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646420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290457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42532" y="3268980"/>
            <a:ext cx="657062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227026" y="28346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227026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1063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23138" y="3268980"/>
            <a:ext cx="657062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07631" y="2834640"/>
            <a:ext cx="868680" cy="868680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8807631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51669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703743" y="3268980"/>
            <a:ext cx="657062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88237" y="283464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10388237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032274" y="3813048"/>
            <a:ext cx="15806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Role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005840" y="4892040"/>
            <a:ext cx="1014984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dash"/>
            <a:headEnd type="triangle"/>
          </a:ln>
        </p:spPr>
      </p:sp>
      <p:sp>
        <p:nvSpPr>
          <p:cNvPr id="32" name="Text 30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evidence continuously updates the Capability Twin — the loop never stops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B2E4F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6235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≠ readiness. Performance on real, practical work is what unlocks the next opportunity.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multi-agent ecosystem — built to the brief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specialized agents, one shared Capability Twin, human oversight at every high-stakes step.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039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Discovery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697480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 projects, GitHub, assessments and work history to build each Capability Twin.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9432" y="2039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2039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 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9432" y="2697480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the AI ontology — skills → tasks → jobs → market demand — to forecast what's next.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03911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39419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8280" y="203911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Pathway Agent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94192" y="2697480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minimum transition: the fewest capabilities, projects and assessments needed.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370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370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3708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Inclusive Matching 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" y="5029200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on transferable capability — never college, location, or job-title pedigree.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114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9432" y="4370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99432" y="4370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43708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Audit Agent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99432" y="5029200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screens recommendations for bias by credential, geography or career gaps.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4192" y="4370832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8394192" y="4370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98280" y="437083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5029200"/>
            <a:ext cx="309981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any high-stakes or borderline call for human review before it's final.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Capability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view — what I can do, where I stand, and where I could go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709160"/>
          </a:xfrm>
          <a:prstGeom prst="roundRect">
            <a:avLst>
              <a:gd name="adj" fmla="val 2330"/>
            </a:avLst>
          </a:prstGeom>
          <a:solidFill>
            <a:srgbClr val="0F3B6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0A2E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17647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9304" y="17647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764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Twin — Employee Portal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356616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063240"/>
            <a:ext cx="3102559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355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3558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630168"/>
            <a:ext cx="356616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630168"/>
            <a:ext cx="2888590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22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92277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197096"/>
            <a:ext cx="356616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197096"/>
            <a:ext cx="2924251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489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448970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4764024"/>
            <a:ext cx="356616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27" name="Shape 25"/>
          <p:cNvSpPr/>
          <p:nvPr/>
        </p:nvSpPr>
        <p:spPr>
          <a:xfrm>
            <a:off x="914400" y="4764024"/>
            <a:ext cx="2282342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056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50566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5330952"/>
            <a:ext cx="356616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31" name="Shape 29"/>
          <p:cNvSpPr/>
          <p:nvPr/>
        </p:nvSpPr>
        <p:spPr>
          <a:xfrm>
            <a:off x="914400" y="5330952"/>
            <a:ext cx="2068373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2" name="Shape 30"/>
          <p:cNvSpPr/>
          <p:nvPr/>
        </p:nvSpPr>
        <p:spPr>
          <a:xfrm>
            <a:off x="4709160" y="2423160"/>
            <a:ext cx="0" cy="3291840"/>
          </a:xfrm>
          <a:prstGeom prst="line">
            <a:avLst/>
          </a:prstGeom>
          <a:noFill/>
          <a:ln w="12700">
            <a:solidFill>
              <a:srgbClr val="1A4A7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83880" y="2423160"/>
            <a:ext cx="0" cy="3291840"/>
          </a:xfrm>
          <a:prstGeom prst="line">
            <a:avLst/>
          </a:prstGeom>
          <a:noFill/>
          <a:ln w="12700">
            <a:solidFill>
              <a:srgbClr val="1A4A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CONFIDENCE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2788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83480" y="3063240"/>
            <a:ext cx="301752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38" name="Shape 36"/>
          <p:cNvSpPr/>
          <p:nvPr/>
        </p:nvSpPr>
        <p:spPr>
          <a:xfrm>
            <a:off x="4983480" y="3063240"/>
            <a:ext cx="2836469" cy="12801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83480" y="335584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983480" y="3630168"/>
            <a:ext cx="301752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42" name="Shape 40"/>
          <p:cNvSpPr/>
          <p:nvPr/>
        </p:nvSpPr>
        <p:spPr>
          <a:xfrm>
            <a:off x="4983480" y="3630168"/>
            <a:ext cx="2745943" cy="12801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3" name="Text 41"/>
          <p:cNvSpPr/>
          <p:nvPr/>
        </p:nvSpPr>
        <p:spPr>
          <a:xfrm>
            <a:off x="4983480" y="3922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83480" y="39227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983480" y="4197096"/>
            <a:ext cx="301752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46" name="Shape 44"/>
          <p:cNvSpPr/>
          <p:nvPr/>
        </p:nvSpPr>
        <p:spPr>
          <a:xfrm>
            <a:off x="4983480" y="4197096"/>
            <a:ext cx="2655418" cy="128016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</p:sp>
      <p:sp>
        <p:nvSpPr>
          <p:cNvPr id="47" name="Text 45"/>
          <p:cNvSpPr/>
          <p:nvPr/>
        </p:nvSpPr>
        <p:spPr>
          <a:xfrm>
            <a:off x="498348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GROWTH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83480" y="498348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498348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83480" y="5367528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51" name="Text 49"/>
          <p:cNvSpPr/>
          <p:nvPr/>
        </p:nvSpPr>
        <p:spPr>
          <a:xfrm>
            <a:off x="4983480" y="5367528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983480" y="5751576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53" name="Text 51"/>
          <p:cNvSpPr/>
          <p:nvPr/>
        </p:nvSpPr>
        <p:spPr>
          <a:xfrm>
            <a:off x="4983480" y="5751576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Deployment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458200" y="242316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OPPORTUNITIES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58200" y="27889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Operations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458200" y="2788920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458200" y="3063240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58" name="Shape 56"/>
          <p:cNvSpPr/>
          <p:nvPr/>
        </p:nvSpPr>
        <p:spPr>
          <a:xfrm>
            <a:off x="8458200" y="3063240"/>
            <a:ext cx="2063801" cy="12801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59" name="Text 57"/>
          <p:cNvSpPr/>
          <p:nvPr/>
        </p:nvSpPr>
        <p:spPr>
          <a:xfrm>
            <a:off x="8458200" y="33558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458200" y="3355848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458200" y="3630168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62" name="Shape 60"/>
          <p:cNvSpPr/>
          <p:nvPr/>
        </p:nvSpPr>
        <p:spPr>
          <a:xfrm>
            <a:off x="8458200" y="3630168"/>
            <a:ext cx="1980133" cy="12801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63" name="Text 61"/>
          <p:cNvSpPr/>
          <p:nvPr/>
        </p:nvSpPr>
        <p:spPr>
          <a:xfrm>
            <a:off x="8458200" y="39227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Engineer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458200" y="3922776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458200" y="4197096"/>
            <a:ext cx="278892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66" name="Shape 64"/>
          <p:cNvSpPr/>
          <p:nvPr/>
        </p:nvSpPr>
        <p:spPr>
          <a:xfrm>
            <a:off x="8458200" y="4197096"/>
            <a:ext cx="1896466" cy="12801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67" name="Shape 65"/>
          <p:cNvSpPr/>
          <p:nvPr/>
        </p:nvSpPr>
        <p:spPr>
          <a:xfrm>
            <a:off x="8458200" y="4663440"/>
            <a:ext cx="2788920" cy="1371600"/>
          </a:xfrm>
          <a:prstGeom prst="roundRect">
            <a:avLst>
              <a:gd name="adj" fmla="val 5333"/>
            </a:avLst>
          </a:prstGeom>
          <a:solidFill>
            <a:srgbClr val="0A2E4D"/>
          </a:solidFill>
          <a:ln/>
        </p:spPr>
      </p:sp>
      <p:sp>
        <p:nvSpPr>
          <p:cNvPr id="68" name="Text 66"/>
          <p:cNvSpPr/>
          <p:nvPr/>
        </p:nvSpPr>
        <p:spPr>
          <a:xfrm>
            <a:off x="8641080" y="4663440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already have 74% of what AI Operations Engineer needs.”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Workforce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7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view — what the organization can do today, and where the gaps really 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4709160"/>
          </a:xfrm>
          <a:prstGeom prst="roundRect">
            <a:avLst>
              <a:gd name="adj" fmla="val 2330"/>
            </a:avLst>
          </a:prstGeom>
          <a:solidFill>
            <a:srgbClr val="0F3B6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502920"/>
          </a:xfrm>
          <a:prstGeom prst="roundRect">
            <a:avLst>
              <a:gd name="adj" fmla="val 21818"/>
            </a:avLst>
          </a:prstGeom>
          <a:solidFill>
            <a:srgbClr val="0A2E4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647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33272" y="17647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9304" y="176479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764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Capability Console — HR Admin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0" y="17647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Employees: 10,000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2423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CAPABILITY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27889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788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338328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3063240"/>
            <a:ext cx="1420978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355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558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630168"/>
            <a:ext cx="338328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630168"/>
            <a:ext cx="1962302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227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9227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197096"/>
            <a:ext cx="338328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4197096"/>
            <a:ext cx="2063801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48970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448970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764024"/>
            <a:ext cx="338328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" y="4764024"/>
            <a:ext cx="1251814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056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5056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5330952"/>
            <a:ext cx="3383280" cy="128016"/>
          </a:xfrm>
          <a:prstGeom prst="roundRect">
            <a:avLst>
              <a:gd name="adj" fmla="val 50000"/>
            </a:avLst>
          </a:prstGeom>
          <a:solidFill>
            <a:srgbClr val="1A4A72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" y="5330952"/>
            <a:ext cx="1826971" cy="12801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2423160"/>
            <a:ext cx="0" cy="3291840"/>
          </a:xfrm>
          <a:prstGeom prst="line">
            <a:avLst/>
          </a:prstGeom>
          <a:noFill/>
          <a:ln w="12700">
            <a:solidFill>
              <a:srgbClr val="1A4A7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2423160"/>
            <a:ext cx="0" cy="3291840"/>
          </a:xfrm>
          <a:prstGeom prst="line">
            <a:avLst/>
          </a:prstGeom>
          <a:noFill/>
          <a:ln w="12700">
            <a:solidFill>
              <a:srgbClr val="1A4A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423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SKILL DEMAND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2834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62940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↑↑↑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800600" y="34015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629400" y="34015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4800600" y="39684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629400" y="396849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↑↑↑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800600" y="453542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Support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629400" y="453542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800600" y="507492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0A2E4D"/>
          </a:solidFill>
          <a:ln/>
        </p:spPr>
      </p:sp>
      <p:sp>
        <p:nvSpPr>
          <p:cNvPr id="45" name="Text 43"/>
          <p:cNvSpPr/>
          <p:nvPr/>
        </p:nvSpPr>
        <p:spPr>
          <a:xfrm>
            <a:off x="4983480" y="5074920"/>
            <a:ext cx="2651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and AI engineering demand is accelerating fastest across the org.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275320" y="242316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GAP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75320" y="2788920"/>
            <a:ext cx="2971800" cy="621792"/>
          </a:xfrm>
          <a:prstGeom prst="roundRect">
            <a:avLst>
              <a:gd name="adj" fmla="val 10294"/>
            </a:avLst>
          </a:prstGeom>
          <a:solidFill>
            <a:srgbClr val="0A2E4D"/>
          </a:solidFill>
          <a:ln/>
        </p:spPr>
      </p:sp>
      <p:sp>
        <p:nvSpPr>
          <p:cNvPr id="48" name="Text 46"/>
          <p:cNvSpPr/>
          <p:nvPr/>
        </p:nvSpPr>
        <p:spPr>
          <a:xfrm>
            <a:off x="8439912" y="278892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75320" y="2788920"/>
            <a:ext cx="2807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1,240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75320" y="3538728"/>
            <a:ext cx="2971800" cy="621792"/>
          </a:xfrm>
          <a:prstGeom prst="roundRect">
            <a:avLst>
              <a:gd name="adj" fmla="val 10294"/>
            </a:avLst>
          </a:prstGeom>
          <a:solidFill>
            <a:srgbClr val="0A2E4D"/>
          </a:solidFill>
          <a:ln/>
        </p:spPr>
      </p:sp>
      <p:sp>
        <p:nvSpPr>
          <p:cNvPr id="51" name="Text 49"/>
          <p:cNvSpPr/>
          <p:nvPr/>
        </p:nvSpPr>
        <p:spPr>
          <a:xfrm>
            <a:off x="8439912" y="3538728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75320" y="3538728"/>
            <a:ext cx="2807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75320" y="4288536"/>
            <a:ext cx="2971800" cy="621792"/>
          </a:xfrm>
          <a:prstGeom prst="roundRect">
            <a:avLst>
              <a:gd name="adj" fmla="val 10294"/>
            </a:avLst>
          </a:prstGeom>
          <a:solidFill>
            <a:srgbClr val="0A2E4D"/>
          </a:solidFill>
          <a:ln/>
        </p:spPr>
      </p:sp>
      <p:sp>
        <p:nvSpPr>
          <p:cNvPr id="54" name="Text 52"/>
          <p:cNvSpPr/>
          <p:nvPr/>
        </p:nvSpPr>
        <p:spPr>
          <a:xfrm>
            <a:off x="8439912" y="4288536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75320" y="4288536"/>
            <a:ext cx="2807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275320" y="49377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don't need to hire 1,240 people — we can reskill from within.”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RESKILLING, MADE MINIMAL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shortest verified path — not 20 random courses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Operations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53949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fit from current role: IT Support Engineer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4612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749040" y="17373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77640" y="2331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97764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Linux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7764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77640" y="3703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9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Automation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4652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2651760" cy="42062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920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78040" y="2331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AI Evaluation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78040" y="2898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Agent Orchestration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78040" y="346557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Cloud AI Deployment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4692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49840" y="1737360"/>
            <a:ext cx="1463040" cy="4206240"/>
          </a:xfrm>
          <a:prstGeom prst="roundRect">
            <a:avLst>
              <a:gd name="adj" fmla="val 6250"/>
            </a:avLst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10259568" y="1920240"/>
            <a:ext cx="12435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</a:t>
            </a:r>
            <a:endParaRPr lang="en-US" sz="1050" dirty="0"/>
          </a:p>
          <a:p>
            <a:pPr indent="0" marL="0">
              <a:buNone/>
            </a:pPr>
            <a:r>
              <a:rPr lang="en-US" sz="1050" b="1" spc="100" kern="0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149840" y="25603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0241280" y="31089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149840" y="36118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0241280" y="4160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149840" y="4617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7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10241280" y="5166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faster and more personal than a generic learning catalog — because it's calculated from evidence, not guesswork.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over pedigree — audited, not assumed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86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USE AS SIGNALS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College name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963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Location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4378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Career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91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Previous job title alone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387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Formal credential alone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9320" y="1554480"/>
            <a:ext cx="5349240" cy="2331720"/>
          </a:xfrm>
          <a:prstGeom prst="roundRect">
            <a:avLst>
              <a:gd name="adj" fmla="val 3922"/>
            </a:avLst>
          </a:prstGeom>
          <a:solidFill>
            <a:srgbClr val="0B2E4F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7373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WEIGH INSTEAD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14884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Demonstrated capability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49631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Transferable capability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843784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Verified evidence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3191256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Growth potential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3538728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Accessibility &amp; flexibility needs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BIAS AUDIT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2514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17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090672" y="5006340"/>
            <a:ext cx="265176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83280" y="4617720"/>
            <a:ext cx="2514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4617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25312" y="5006340"/>
            <a:ext cx="265176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17920" y="4617720"/>
            <a:ext cx="25146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617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Detected?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59952" y="5006340"/>
            <a:ext cx="265176" cy="0"/>
          </a:xfrm>
          <a:prstGeom prst="line">
            <a:avLst/>
          </a:prstGeom>
          <a:noFill/>
          <a:ln w="25400">
            <a:solidFill>
              <a:srgbClr val="AEC0C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52560" y="4617720"/>
            <a:ext cx="2514600" cy="777240"/>
          </a:xfrm>
          <a:prstGeom prst="roundRect">
            <a:avLst>
              <a:gd name="adj" fmla="val 10588"/>
            </a:avLst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46177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recommends. Humans make the final high-stakes call — always.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crowded market on prediction. Wide open on verification.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0B2E4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69164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strongest point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543800" y="1691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Access-Hire goes further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4884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Eightfold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intelligence &amp; trajectory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3800" y="214884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readiness through practical work, not just inference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11064240" cy="621792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770632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 Skills Cloud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770632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HCM &amp; employee data integration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43800" y="277063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transition-readiness layer on top of the skills 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392424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92424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Talent Intelligence Hub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3392424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SAP HCM ecosystem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3800" y="33924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SAP: extend skills into verified transitions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14216"/>
            <a:ext cx="11064240" cy="621792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014216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4014216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digital twin &amp; task intelligence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43800" y="40142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employee-transition-centric with proof, not just data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11064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63600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66160" y="4636008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marketplace matching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46360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readiness engine that runs before marketplace matching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64240" cy="621792"/>
          </a:xfrm>
          <a:prstGeom prst="rect">
            <a:avLst/>
          </a:prstGeom>
          <a:solidFill>
            <a:srgbClr val="EEF2F5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257800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66160" y="5257800"/>
            <a:ext cx="3703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ontology &amp; career pathing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43800" y="525780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transitions measurable and experimentally verified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1691640"/>
            <a:ext cx="0" cy="4187952"/>
          </a:xfrm>
          <a:prstGeom prst="line">
            <a:avLst/>
          </a:prstGeom>
          <a:noFill/>
          <a:ln w="12700">
            <a:solidFill>
              <a:srgbClr val="DDE5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943600" cy="59436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predicts readiness. We prove it.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0F3B6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Verification, not just prediction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practical, evaluated work sample sits between “gap identified” and “new role unlocked” — no other platform in this space closes that loop.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0F3B60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21488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Complements SAP, doesn't compete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 SAP Talent Intelligence Hub and SuccessFactors with a transition-readiness layer, not replace the ecosystem.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11880" cy="3977640"/>
          </a:xfrm>
          <a:prstGeom prst="roundRect">
            <a:avLst>
              <a:gd name="adj" fmla="val 3038"/>
            </a:avLst>
          </a:prstGeom>
          <a:solidFill>
            <a:srgbClr val="0F3B6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1488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148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7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12480" y="28803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governance is architecture, not a feature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412480" y="3749040"/>
            <a:ext cx="3063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and bias-audit agents run on every recommendation — with mandatory human review on high-stakes calls.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just pitch — we 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StarCoders has already built and deployed AI products end to end. Access-Hire is our next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240280"/>
            <a:ext cx="534924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965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CodeXPath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8803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AI-assisted platform for navigating and understanding code paths — shipped and live.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02336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1051560" y="40233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code-x-path.vercel.app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828800"/>
            <a:ext cx="534924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6520" y="1828800"/>
            <a:ext cx="5349240" cy="822960"/>
          </a:xfrm>
          <a:prstGeom prst="roundRect">
            <a:avLst>
              <a:gd name="adj" fmla="val 13333"/>
            </a:avLst>
          </a:prstGeom>
          <a:solidFill>
            <a:srgbClr val="F2A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446520" y="2240280"/>
            <a:ext cx="5349240" cy="41148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965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 Radar AI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66560" y="288036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and surfaces relevant opportunities for users through an AI-driven dashboard — shipped and live.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4023360"/>
            <a:ext cx="4709160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6949440" y="402336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opportunity-radar-ai.netlify.app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0B2E4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Access-Hire — Our Hackathon Build</a:t>
            </a:r>
            <a:endParaRPr lang="en-US" sz="1500" dirty="0"/>
          </a:p>
        </p:txBody>
      </p:sp>
      <p:sp>
        <p:nvSpPr>
          <p:cNvPr id="21" name="Text 19">
            <a:hlinkClick r:id="rId3" tooltip=""/>
          </p:cNvPr>
          <p:cNvSpPr/>
          <p:nvPr/>
        </p:nvSpPr>
        <p:spPr>
          <a:xfrm>
            <a:off x="822960" y="5440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github.com/Devengoyal885/Access-Hire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StarCoders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3317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Gurleen Kaur Bedi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441655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</p:sp>
      <p:sp>
        <p:nvSpPr>
          <p:cNvPr id="10" name="Text 8">
            <a:hlinkClick r:id="rId1" tooltip=""/>
          </p:cNvPr>
          <p:cNvSpPr/>
          <p:nvPr/>
        </p:nvSpPr>
        <p:spPr>
          <a:xfrm>
            <a:off x="731520" y="4416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Gurleen12star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96596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33172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92608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Ridhi Bansal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71800" y="441655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</p:sp>
      <p:sp>
        <p:nvSpPr>
          <p:cNvPr id="17" name="Text 15">
            <a:hlinkClick r:id="rId2" tooltip=""/>
          </p:cNvPr>
          <p:cNvSpPr/>
          <p:nvPr/>
        </p:nvSpPr>
        <p:spPr>
          <a:xfrm>
            <a:off x="2971800" y="4416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RidhiiBansal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96596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2331720"/>
            <a:ext cx="914400" cy="9144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6636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Bani Kaur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12080" y="441655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</p:sp>
      <p:sp>
        <p:nvSpPr>
          <p:cNvPr id="24" name="Text 22">
            <a:hlinkClick r:id="rId3" tooltip=""/>
          </p:cNvPr>
          <p:cNvSpPr/>
          <p:nvPr/>
        </p:nvSpPr>
        <p:spPr>
          <a:xfrm>
            <a:off x="5212080" y="4416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banikaur22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69480" y="196596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317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40664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Deven Goyal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0664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52360" y="441655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</p:sp>
      <p:sp>
        <p:nvSpPr>
          <p:cNvPr id="31" name="Text 29">
            <a:hlinkClick r:id="rId4" tooltip=""/>
          </p:cNvPr>
          <p:cNvSpPr/>
          <p:nvPr/>
        </p:nvSpPr>
        <p:spPr>
          <a:xfrm>
            <a:off x="7452360" y="4416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Devengoyal885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09760" y="196596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04120" y="2331720"/>
            <a:ext cx="914400" cy="9144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0104120" y="2331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64692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Aryan Yadav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4692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692640" y="4416552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4F7FA"/>
          </a:solidFill>
          <a:ln/>
        </p:spPr>
      </p:sp>
      <p:sp>
        <p:nvSpPr>
          <p:cNvPr id="38" name="Text 36">
            <a:hlinkClick r:id="rId5" tooltip=""/>
          </p:cNvPr>
          <p:cNvSpPr/>
          <p:nvPr/>
        </p:nvSpPr>
        <p:spPr>
          <a:xfrm>
            <a:off x="9692640" y="4416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aryanrao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builders — from AI product design to shipped, live applications.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943600" cy="59436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CORE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70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136648" y="1874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392680" y="1874520"/>
            <a:ext cx="170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980688" y="1874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36720" y="1874520"/>
            <a:ext cx="170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824728" y="1874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1874520"/>
            <a:ext cx="170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Reskill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68768" y="1874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24800" y="1874520"/>
            <a:ext cx="170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512808" y="1874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768840" y="1874520"/>
            <a:ext cx="170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the fair future of work — together.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Access-Hire gives every employee a true picture of what they can become, and gives every company a way to grow talent instead of discarding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852160" cy="868680"/>
          </a:xfrm>
          <a:prstGeom prst="roundRect">
            <a:avLst>
              <a:gd name="adj" fmla="val 10526"/>
            </a:avLst>
          </a:prstGeom>
          <a:solidFill>
            <a:srgbClr val="0F3B60"/>
          </a:solidFill>
          <a:ln/>
        </p:spPr>
      </p:sp>
      <p:sp>
        <p:nvSpPr>
          <p:cNvPr id="19" name="Text 17">
            <a:hlinkClick r:id="rId1" tooltip=""/>
          </p:cNvPr>
          <p:cNvSpPr/>
          <p:nvPr/>
        </p:nvSpPr>
        <p:spPr>
          <a:xfrm>
            <a:off x="822960" y="507492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Link: github.com/Devengoyal885/Access-Hire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STARCODERS  ·  SAP HACKFEST 2026  ·  THEME 2: INCLUSIVE WORKFORCE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2026-08-17T09:04:33Z</dcterms:created>
  <dcterms:modified xsi:type="dcterms:W3CDTF">2026-08-17T09:04:33Z</dcterms:modified>
</cp:coreProperties>
</file>